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R$/mês</c:v>
                </c:pt>
              </c:strCache>
            </c:strRef>
          </c:tx>
          <c:spPr>
            <a:solidFill>
              <a:srgbClr val="6C4BF6"/>
            </a:solidFill>
            <a:effectLst/>
          </c:spPr>
          <c:invertIfNegative val="0"/>
          <c:dLbls>
            <c:numFmt formatCode="&quot;R$ &quot;0.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4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C77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Sustentação
(teto)</c:v>
                  </c:pt>
                  <c:pt idx="1">
                    <c:v>Economia por
desperdício (5%)</c:v>
                  </c:pt>
                  <c:pt idx="2">
                    <c:v>Receita
incremental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7.5</c:v>
                </c:pt>
                <c:pt idx="1">
                  <c:v>13.25</c:v>
                </c:pt>
                <c:pt idx="2">
                  <c:v>39.75</c:v>
                </c:pt>
              </c:numCache>
            </c:numRef>
          </c:val>
        </c:ser>
        <c:dLbls>
          <c:numFmt formatCode="&quot;R$ &quot;0.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EF1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6350" cap="flat">
              <a:solidFill>
                <a:srgbClr val="2A33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6C4BF6">
              <a:alpha val="30000"/>
            </a:srgbClr>
          </a:solidFill>
          <a:ln w="12700">
            <a:solidFill>
              <a:srgbClr val="6C4B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657600"/>
            <a:ext cx="4572000" cy="4572000"/>
          </a:xfrm>
          <a:prstGeom prst="ellipse">
            <a:avLst/>
          </a:prstGeom>
          <a:solidFill>
            <a:srgbClr val="2E7CF6">
              <a:alpha val="25000"/>
            </a:srgbClr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• B2B ENTERPRISE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Gerente de Mídia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Performance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Wish — maximização de receita direta e autonomia de mídia com 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semanal autônoma de orçamento entre Google Ads, Meta Ads e canais de performance para os 9 hotéis da rede.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 da Gestão de Mídia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373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86537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 diverso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212848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hotéis em diferentes regiões — resorts de lazer, urbanos e de aeroporto — cada um com sazonalidade e metas próprias.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82512" y="17373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11112" y="186537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Sobrecarga operacional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11112" y="2212848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Dezenas de horas semanais em planilhas, extração de relatórios e ajustes manuais de lances.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7947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" y="392277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5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descalibração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4270248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Mudanças bruscas de orçamento resetam o aprendizado do Google e do Meta, prejudicando o volume de reservas.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82512" y="37947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1112" y="392277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Pressão das OTAs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11112" y="4270248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Perda de impressão nas buscas do nome do próprio hotel para Booking e Decolar, corroendo a margem da venda direta.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Virtual Inteligente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361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copiloto autônomo que monitora, diagnostica e otimiza investimentos 24/7 com governança institucional.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95528" y="21396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 continuamente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487168"/>
            <a:ext cx="5074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 de cada hotel e campanha dos últimos 7 dias, sem interrupção.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82512" y="201168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11112" y="21396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ineficiências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11112" y="2487168"/>
            <a:ext cx="5074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Drena verba de anúncios estagnados e realoca para campanhas de alto retorno.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904488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" y="403250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guardrails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" y="4379976"/>
            <a:ext cx="5074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Travas de segurança impedem excessos ou estouro de teto orçamentário.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82512" y="3904488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11112" y="403250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 diagnósticos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11112" y="4379976"/>
            <a:ext cx="5074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visual moderno e cartões de aprovação instantânea no Slack.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em 4 Camadas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11027664" cy="932688"/>
          </a:xfrm>
          <a:prstGeom prst="roundRect">
            <a:avLst>
              <a:gd name="adj" fmla="val 5882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20824"/>
            <a:ext cx="457200" cy="457200"/>
          </a:xfrm>
          <a:prstGeom prst="ellipse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901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Ingestão de Dados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12080" y="1901952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 direta com Google Ads API e Meta Graph API: cliques, investimento, conversões e faturamento semanais.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862072"/>
            <a:ext cx="11027664" cy="932688"/>
          </a:xfrm>
          <a:prstGeom prst="roundRect">
            <a:avLst>
              <a:gd name="adj" fmla="val 5882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099816"/>
            <a:ext cx="457200" cy="457200"/>
          </a:xfrm>
          <a:prstGeom prst="ellipse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29809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4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Cérebro Analítico (IA)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2980944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raciocínio com LLMs que analisa os dados e gera diagnósticos estratégicos baseados em metas.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941064"/>
            <a:ext cx="11027664" cy="932688"/>
          </a:xfrm>
          <a:prstGeom prst="roundRect">
            <a:avLst>
              <a:gd name="adj" fmla="val 5882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178808"/>
            <a:ext cx="457200" cy="457200"/>
          </a:xfrm>
          <a:prstGeom prst="ellipse">
            <a:avLst/>
          </a:prstGeom>
          <a:solidFill>
            <a:srgbClr val="34C77B"/>
          </a:solidFill>
          <a:ln w="12700">
            <a:solidFill>
              <a:srgbClr val="34C7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0599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Governança &amp; Guardrails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2080" y="4059936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estrita: trava de ±20%, prioridade para Search Brand e controle de teto mensal.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5020056"/>
            <a:ext cx="11027664" cy="932688"/>
          </a:xfrm>
          <a:prstGeom prst="roundRect">
            <a:avLst>
              <a:gd name="adj" fmla="val 5882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257800"/>
            <a:ext cx="457200" cy="457200"/>
          </a:xfrm>
          <a:prstGeom prst="ellipse">
            <a:avLst/>
          </a:prstGeom>
          <a:solidFill>
            <a:srgbClr val="36C5D0"/>
          </a:solidFill>
          <a:ln w="12700">
            <a:solidFill>
              <a:srgbClr val="36C5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5138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Interface &amp; Execução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5138928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HTML5, relatórios exportáveis e mutações de orçamento em modo Dry-Run ou produção.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Guardrails: O Cinto de Segurança da Marca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9110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Estabilidade do Smart Bidding (±20%)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2258568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orçamento diário nunca varia mais de 20% por ciclo, preservando o aprendizado das plataformas e evitando resets de algoritmo.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82512" y="178308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11112" y="19110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Defesa absoluta da marca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11112" y="2258568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com o nome do hotel tem prioridade obrigatória. Se a perda de impressão passar de 10%, o agente reforça a verba.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84048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" y="39684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Teto orçamentário mensal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" y="4315968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soma dos orçamentos diários recomendados nunca ultrapassa o limite aprovado para cada hotel.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82512" y="384048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1112" y="39684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Racional 100% baseado em dados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1112" y="4315968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mudança sem justificativa matemática explícita — ex.: "ROAS de 12,0 superou meta de 9,0 com 28% de perda por orçamento".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9 Hotéis do Grupo Wish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Resorts &amp; Lazer — Alto Ticket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65960"/>
          <a:ext cx="54864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82296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Propriedade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ROAS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Wish Foz do Iguaçu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Wish Serrano Gramado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Wish Natal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Wish Hotel da Bahia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Marupiara Resort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Corporativo &amp; Urbano — Eficiência &amp; Escala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65960"/>
          <a:ext cx="54864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82296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Propriedade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ROAS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Prodigy Santos Dumont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RJ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Prodigy Gramado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Linx Galeão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RJ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Linx Confins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66928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de ROAS diferenciadas por perfil: resorts de lazer operam com metas mais altas, refletindo ticket médio superior e maior margem por reserva.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Relatórios Executivos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9110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e KPIs da rede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258568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total, receita gerada e ROAS agregado de toda a rede em tempo real.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82512" y="178308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11112" y="19110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 comparativos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11112" y="2258568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real vs meta contratual por propriedade, facilitando a identificação de desvios.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776472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" y="390448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otimizações da 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4251960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interativa com badges de variação e seleção para aprovação direta pelo gestor.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82512" y="3776472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1112" y="390448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standalone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11112" y="4251960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Exportação em HTML independente para envio rápido à diretoria e investidores.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Diagnóstico à Execução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4688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141B45"/>
          </a:solidFill>
          <a:ln w="19050">
            <a:solidFill>
              <a:srgbClr val="2E7C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31821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32888" y="27889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852928" y="24688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141B45"/>
          </a:solidFill>
          <a:ln w="19050">
            <a:solidFill>
              <a:srgbClr val="36C5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52928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52928" y="31821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8888" y="27889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138928" y="24688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141B45"/>
          </a:solidFill>
          <a:ln w="19050">
            <a:solidFill>
              <a:srgbClr val="34C77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38928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38928" y="31821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04888" y="27889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424928" y="24688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141B45"/>
          </a:solidFill>
          <a:ln w="19050">
            <a:solidFill>
              <a:srgbClr val="F5C5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24928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424928" y="31821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90888" y="27889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710928" y="24688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141B45"/>
          </a:solidFill>
          <a:ln w="19050">
            <a:solidFill>
              <a:srgbClr val="6C4B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710928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4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710928" y="31821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4206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ciclo completo opera com supervisão humana obrigatória na etapa de aprovação — controle institucional sem abrir mão da velocidade da automação. Nenhuma mudança vai ao ar sem o aval do gestor.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Financeiro e Resultados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+15–25%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 potencial em ROAS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78308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61688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361688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de tempo do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6448" y="178308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56448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156448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e auditoria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6118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5528" y="37398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total contra desvios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5528" y="4087368"/>
            <a:ext cx="5074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algorítmica que impede erros operacionais e garante compliance com o orçamento aprovado.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82512" y="36118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11112" y="37398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direta maximizada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11112" y="4087368"/>
            <a:ext cx="5074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Defesa ativa contra OTAs nas buscas de marca e realocação contínua para os canais de maior conversão.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ganhos de ROAS são potenciais e serão medidos nos 15 dias de Dry-Run antes de qualquer cobrança de sucesso.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Contratação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de mercado B2B Enterprise AI, separando Adesão (implantação única) de Sustentação (operação contínua).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94560"/>
          <a:ext cx="11027664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5724144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Faixa estimada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Adesão &amp; Setup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única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R$ 18.000 – R$ 25.000  (≈ R$ 2.000 a 2.700/hotel)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Sustentação mensal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Retainer fixo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R$ 4.500 – R$ 7.500/mês  (≈ R$ 500 a 830/hotel/mês)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no primeiro ano (setup + 12 meses): aproximadamente R$ 72 mil a R$ 115 mil.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 de Custo da Sustentação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361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consumo de IA não é o custo — a mensalidade remunera operação, manutenção e expertise contínua.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57400"/>
          <a:ext cx="11027664" cy="914400"/>
        </p:xfrm>
        <a:graphic>
          <a:graphicData uri="http://schemas.openxmlformats.org/drawingml/2006/table">
            <a:tbl>
              <a:tblPr/>
              <a:tblGrid>
                <a:gridCol w="7370064"/>
                <a:gridCol w="36576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 mensal estimado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Inferência de IA — 9 hotéis, ciclo semanal + monitoramento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4C7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R$ 10 – R$ 20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Hospedagem — dashboard + API + banco em nuvem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R$ 150 – R$ 400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Manutenção de conectores + recalibragem + SLA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 de engenharia (componente principal)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343400"/>
            <a:ext cx="11027664" cy="1280160"/>
          </a:xfrm>
          <a:prstGeom prst="roundRect">
            <a:avLst>
              <a:gd name="adj" fmla="val 4286"/>
            </a:avLst>
          </a:prstGeom>
          <a:solidFill>
            <a:srgbClr val="141B45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4805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chegamos nesse número:  </a:t>
            </a:r>
            <a:pPr indent="0" marL="0">
              <a:buNone/>
            </a:pPr>
            <a:r>
              <a:rPr lang="en-US" sz="11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de ~540 mil tokens de entrada e ~240 mil de saída por mês (ingestão dos 9 hotéis + análises diárias), mix Haiku 4.5 / Sonnet 5 com Batch API. Preço de referência: Sonnet 5 a US$ 2 / US$ 10 e Haiku 4.5 a US$ 1 / US$ 5 por milhão de tokens; câmbio ~R$ 5,19. Mesmo com um erro de 10x, o custo de IA fica em R$ 100–200/mês.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e ROI — Modelagem Realista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361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Ancorada no investimento real de mídia da rede: ~R$ 265.000/mês (média dos reports semanais, não R$ 300 mil).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2057400"/>
          <a:ext cx="5852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675120" y="2057400"/>
            <a:ext cx="4937760" cy="694944"/>
          </a:xfrm>
          <a:prstGeom prst="roundRect">
            <a:avLst>
              <a:gd name="adj" fmla="val 7895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75120" y="2057400"/>
            <a:ext cx="64008" cy="694944"/>
          </a:xfrm>
          <a:prstGeom prst="rect">
            <a:avLst/>
          </a:prstGeom>
          <a:solidFill>
            <a:srgbClr val="36C5D0"/>
          </a:solidFill>
          <a:ln w="12700">
            <a:solidFill>
              <a:srgbClr val="36C5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0" y="213055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usado: 3,05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0" y="23591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consolidado real do report de mídia — não os 9–12x das campanhas de topo. Blinda a conta contra contestação.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675120" y="2843784"/>
            <a:ext cx="4937760" cy="694944"/>
          </a:xfrm>
          <a:prstGeom prst="roundRect">
            <a:avLst>
              <a:gd name="adj" fmla="val 7895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75120" y="2843784"/>
            <a:ext cx="64008" cy="694944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29169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Economia: R$ 13,25 mil/mês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0" y="31455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5% de desperdício sobre R$ 265 mil de verba real.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675120" y="3630168"/>
            <a:ext cx="4937760" cy="694944"/>
          </a:xfrm>
          <a:prstGeom prst="roundRect">
            <a:avLst>
              <a:gd name="adj" fmla="val 7895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75120" y="3630168"/>
            <a:ext cx="64008" cy="694944"/>
          </a:xfrm>
          <a:prstGeom prst="rect">
            <a:avLst/>
          </a:prstGeom>
          <a:solidFill>
            <a:srgbClr val="34C77B"/>
          </a:solidFill>
          <a:ln w="12700">
            <a:solidFill>
              <a:srgbClr val="34C7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37033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incremental: ~R$ 39,75 mil/mês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0" y="3931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realocação da verba economizada ao ROAS consolidado de 3,0.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675120" y="4416552"/>
            <a:ext cx="4937760" cy="694944"/>
          </a:xfrm>
          <a:prstGeom prst="roundRect">
            <a:avLst>
              <a:gd name="adj" fmla="val 7895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75120" y="4416552"/>
            <a:ext cx="64008" cy="694944"/>
          </a:xfrm>
          <a:prstGeom prst="rect">
            <a:avLst/>
          </a:prstGeom>
          <a:solidFill>
            <a:srgbClr val="F5C544"/>
          </a:solidFill>
          <a:ln w="12700">
            <a:solidFill>
              <a:srgbClr val="F5C5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0" y="44897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Payback: ~1,5 mês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58000" y="47183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receita incremental; ~4 meses no cenário só-economia (ultraconservador). Em ambos, se paga rápido.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Antecipando as Perguntas do Comitê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5349240" cy="1042416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5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orçamento de R$ 300 mil está superestimado."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9808" y="224028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Corrigido para R$ 265 mil, a média real dos reports. O ROI não depende de inflar a base.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36208" y="1783080"/>
            <a:ext cx="5349240" cy="1042416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19088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5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ROAS de 9–12x é otimista."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19088" y="224028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 usa o ROAS consolidado real de 3,05. Os 9–12x só aparecem em Search Brand específicas.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953512"/>
            <a:ext cx="5349240" cy="1042416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3044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5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+25% é promessa?"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9808" y="341071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potencial (+15% a +25%), medido nos 15 dias de Dry-Run antes de qualquer cobrança de sucesso.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6208" y="2953512"/>
            <a:ext cx="5349240" cy="1042416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19088" y="3044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5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"Quanto é custo de IA?"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19088" y="341071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Dezenas de reais/mês. A mensalidade paga operação e expertise, não tokens.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123944"/>
            <a:ext cx="5349240" cy="1042416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2153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5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 se a receita for só sazonalidade?"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" y="458114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isso o fix-fee é recomendado: remove a discussão de atribuição de mérito.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6208" y="4123944"/>
            <a:ext cx="5349240" cy="1042416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19088" y="42153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5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"Por que confiar a verba a uma IA?"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19088" y="458114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inegociáveis + aprovação humana obrigatória antes de qualquer execução.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Modelos de Contratação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141B45"/>
          </a:solidFill>
          <a:ln w="19050">
            <a:solidFill>
              <a:srgbClr val="34C77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83080"/>
            <a:ext cx="5349240" cy="640080"/>
          </a:xfrm>
          <a:prstGeom prst="rect">
            <a:avLst/>
          </a:prstGeom>
          <a:solidFill>
            <a:srgbClr val="34C77B"/>
          </a:solidFill>
          <a:ln w="12700">
            <a:solidFill>
              <a:srgbClr val="34C7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7830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Fix-Fee  (Recomendado)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fixo + mensalidade fixa.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 100% previsível.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R$ 20.000 (setup) + R$ 6.000/mês.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 governança e compliance — e evita a discussão de atribuição de receita.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17830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141B45"/>
          </a:solidFill>
          <a:ln w="19050">
            <a:solidFill>
              <a:srgbClr val="F5C5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6208" y="1783080"/>
            <a:ext cx="5349240" cy="640080"/>
          </a:xfrm>
          <a:prstGeom prst="rect">
            <a:avLst/>
          </a:prstGeom>
          <a:solidFill>
            <a:srgbClr val="F5C544"/>
          </a:solidFill>
          <a:ln w="12700">
            <a:solidFill>
              <a:srgbClr val="F5C5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7830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Híbrido  (Success-Fee)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0528" y="260604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reduzido + base menor + % sobre receita incremental acima da meta.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R$ 12.000 (setup) + R$ 3.500/mês + 5% sobre receita incremental.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desembolso inicial, mas exige acordo sobre como isolar o mérito do agente.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em 4 Fases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9110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Concluída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258568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analítico, guardrails, dashboard web e simulador Dry-Run operacionais.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82512" y="178308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11112" y="19110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— Próxima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11112" y="2258568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o PMS hoteleiro: ocupação futura em tempo real para ajustar mídia por quartos vagos.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776472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" y="390448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4251960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canais com conectores nativos: TikTok Ads, Bing Ads e campanhas programáticas.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82512" y="3776472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1112" y="390448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11112" y="4251960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autônoma de sugestões de criativos com base em tendências de busca e histórico de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6C4BF6">
              <a:alpha val="25000"/>
            </a:srgbClr>
          </a:solidFill>
          <a:ln w="12700">
            <a:solidFill>
              <a:srgbClr val="6C4B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2E7CF6">
              <a:alpha val="22000"/>
            </a:srgbClr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03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futuro da hotelaria com IA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Wish • Gestão Autônoma de Performance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 que não substitui o gestor — libera-o para pensar em estratégia enquanto a IA cuida da execução com precisão e governança.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de ponta   ·   Guardrails inegociáveis   ·   9 hotéis com estratégia personalizada   ·   Mais receita direta, menos OTA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Gerente de Mídia de Performance — Grupo Wish</dc:title>
  <dc:subject>PptxGenJS Presentation</dc:subject>
  <dc:creator>PptxGenJS</dc:creator>
  <cp:lastModifiedBy>PptxGenJS</cp:lastModifiedBy>
  <cp:revision>1</cp:revision>
  <dcterms:created xsi:type="dcterms:W3CDTF">2026-08-20T23:57:15Z</dcterms:created>
  <dcterms:modified xsi:type="dcterms:W3CDTF">2026-08-20T23:57:15Z</dcterms:modified>
</cp:coreProperties>
</file>