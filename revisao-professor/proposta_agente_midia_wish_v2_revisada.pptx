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R$/mês</c:v>
                </c:pt>
              </c:strCache>
            </c:strRef>
          </c:tx>
          <c:spPr>
            <a:solidFill>
              <a:srgbClr val="6C4B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2C-4839-ACAC-656D84B4A13D}"/>
              </c:ext>
            </c:extLst>
          </c:dPt>
          <c:dPt>
            <c:idx val="1"/>
            <c:invertIfNegative val="0"/>
            <c:bubble3D val="0"/>
            <c:spPr>
              <a:solidFill>
                <a:srgbClr val="2E7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2C-4839-ACAC-656D84B4A13D}"/>
              </c:ext>
            </c:extLst>
          </c:dPt>
          <c:dPt>
            <c:idx val="2"/>
            <c:invertIfNegative val="0"/>
            <c:bubble3D val="0"/>
            <c:spPr>
              <a:solidFill>
                <a:srgbClr val="34C7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2C-4839-ACAC-656D84B4A13D}"/>
              </c:ext>
            </c:extLst>
          </c:dPt>
          <c:dLbls>
            <c:numFmt formatCode="&quot;R$ &quot;0.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Sustentação
(teto)</c:v>
                </c:pt>
                <c:pt idx="1">
                  <c:v>Economia por
desperdício (5%)</c:v>
                </c:pt>
                <c:pt idx="2">
                  <c:v>Receita
incremental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</c:v>
                </c:pt>
                <c:pt idx="1">
                  <c:v>13.25</c:v>
                </c:pt>
                <c:pt idx="2">
                  <c:v>39.75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2C-4839-ACAC-656D84B4A1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EF1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2A33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E375D-810B-416E-92E3-C03B59D7DF21}" type="datetimeFigureOut">
              <a:t>15/09/2026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EA47B-C67D-4CAA-B31F-E837016190E3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24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6C4BF6">
              <a:alpha val="30000"/>
            </a:srgbClr>
          </a:solidFill>
          <a:ln w="12700">
            <a:solidFill>
              <a:srgbClr val="6C4B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657600"/>
            <a:ext cx="4572000" cy="4572000"/>
          </a:xfrm>
          <a:prstGeom prst="ellipse">
            <a:avLst/>
          </a:prstGeom>
          <a:solidFill>
            <a:srgbClr val="2E7CF6">
              <a:alpha val="25000"/>
            </a:srgbClr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• B2B ENTERPRISE AI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Gerente de Mídia</a:t>
            </a:r>
            <a:endParaRPr lang="en-US" sz="460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Performance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Wish — maximização de receita direta e autonomia de mídia com IA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semanal autônoma de orçamento entre Google Ads, Meta Ads e canais de performance para os 9 hotéis da rede.</a:t>
            </a:r>
            <a:endParaRPr lang="en-US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CONTEXTO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da Gestão de Mídia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8653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diverso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95528" y="22128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hotéis em diferentes regiões — resorts de lazer, urbanos e de aeroporto — cada um com sazonalidade e metas próprias.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382512" y="17373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8653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operacional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611112" y="22128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Dezenas de horas semanais em planilhas, extração de relatórios e ajustes manuais de lances.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66928" y="37947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227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descalibração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795528" y="42702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bruscas de orçamento resetam o aprendizado do Google e do Meta, prejudicando o volume de reservas.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382512" y="37947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227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das OTAs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611112" y="427024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de impressão nas buscas do nome do próprio hotel para Booking e Decolar, corroendo a margem da venda direta.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Virtual Inteligente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copiloto autônomo que monitora, diagnostica e otimiza investimentos 24/7 com governança institucional.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21396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 continuamente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95528" y="2487168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de cada hotel e campanha dos últimos 7 dias, sem interrupção.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6382512" y="20116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11112" y="21396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ineficiências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611112" y="2487168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 verba de anúncios estagnados e realoca para campanhas de alto retorno.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566928" y="3904488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403250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guardrails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95528" y="4379976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Travas de segurança impedem excessos ou estouro de teto orçamentário.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382512" y="3904488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1112" y="403250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 diagnósticos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611112" y="4379976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visual moderno e cartões de aprovação instantânea no Slack.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em 4 Camadas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20824"/>
            <a:ext cx="457200" cy="457200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46304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Ingestão de Dados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5212080" y="1901952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direta com Google Ads API e Meta Graph API: cliques, investimento, conversões e faturamento semanais.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566928" y="2862072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1463040" y="2980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C4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Cérebro Analítico (IA)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5212080" y="2980944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raciocínio com LLMs que analisa os dados e gera diagnósticos estratégicos baseados em metas.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66928" y="3941064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463040" y="4059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Governança &amp; Guardrails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5212080" y="4059936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estrita: trava de ±20%, prioridade para Search Brand e controle de teto mensal.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66928" y="5020056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36C5D0"/>
          </a:solidFill>
          <a:ln w="12700">
            <a:solidFill>
              <a:srgbClr val="36C5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1463040" y="5138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Interface &amp; Execução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5212080" y="51389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HTML5, relatórios exportáveis e mutações de orçamento em modo Dry-Run ou produção.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O Cinto de Segurança da Marca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Estabilidade do Smart Bidding (±20%)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95528" y="22585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orçamento diário nunca varia mais de 20% por ciclo, preservando o aprendizado das plataformas e evitando resets de algoritmo.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382512" y="17830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 absoluta da marca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611112" y="22585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com o nome do hotel tem prioridade obrigatória. Se a perda de impressão passar de 10%, o agente reforça a verba.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66928" y="38404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684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orçamentário mensal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795528" y="43159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soma dos orçamentos diários recomendados nunca ultrapassa o limite aprovado para cada hotel.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382512" y="38404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684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Racional 100% baseado em dados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611112" y="4315968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mudança sem justificativa matemática explícita — ex.: "ROAS de 12,0 superou meta de 9,0 com 28% de perda por orçamento".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9 Hotéis do Grupo Wish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Resorts &amp; Lazer — Alto Ticket</a:t>
            </a:r>
            <a:endParaRPr lang="en-US" sz="13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Propriedade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UF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ROAS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Foz do Iguaçu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Serrano Gramado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Natal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 Hotel da Bahia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Marupiara Resort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3093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Corporativo &amp; Urbano — Eficiência &amp; Escala</a:t>
            </a:r>
            <a:endParaRPr lang="en-US" sz="130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Propriedade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UF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ROAS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Prodigy Santos Dumont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RJ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Prodigy Gramado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Linx Galeão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RJ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Linx Confins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7.5x</a:t>
                      </a: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66928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de ROAS diferenciadas por perfil: resorts de lazer operam com metas mais altas, refletindo ticket médio superior e maior margem por reserva.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Relatórios Executivos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e KPIs da rede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95528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total, receita gerada e ROAS agregado de toda a rede em tempo real.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382512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comparativos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611112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real vs meta contratual por propriedade, facilitando a identificação de desvios.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66928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otimizações da IA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795528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interativa com badges de variação e seleção para aprovação direta pelo gestor.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382512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standalone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611112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em HTML independente para envio rápido à diretoria e investidores.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Diagnóstico à Execução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2E7CF6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566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532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2852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36C5D0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52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2852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818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/>
          </a:p>
        </p:txBody>
      </p:sp>
      <p:sp>
        <p:nvSpPr>
          <p:cNvPr id="13" name="Shape 11"/>
          <p:cNvSpPr/>
          <p:nvPr/>
        </p:nvSpPr>
        <p:spPr>
          <a:xfrm>
            <a:off x="5138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34C77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38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5138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104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/>
          </a:p>
        </p:txBody>
      </p:sp>
      <p:sp>
        <p:nvSpPr>
          <p:cNvPr id="17" name="Shape 15"/>
          <p:cNvSpPr/>
          <p:nvPr/>
        </p:nvSpPr>
        <p:spPr>
          <a:xfrm>
            <a:off x="7424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F5C5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24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7424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93908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/>
          </a:p>
        </p:txBody>
      </p:sp>
      <p:sp>
        <p:nvSpPr>
          <p:cNvPr id="21" name="Shape 19"/>
          <p:cNvSpPr/>
          <p:nvPr/>
        </p:nvSpPr>
        <p:spPr>
          <a:xfrm>
            <a:off x="9710928" y="24688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41B45"/>
          </a:solidFill>
          <a:ln w="19050">
            <a:solidFill>
              <a:srgbClr val="6C4BF6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10928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6C4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/>
          </a:p>
        </p:txBody>
      </p:sp>
      <p:sp>
        <p:nvSpPr>
          <p:cNvPr id="23" name="Text 21"/>
          <p:cNvSpPr/>
          <p:nvPr/>
        </p:nvSpPr>
        <p:spPr>
          <a:xfrm>
            <a:off x="9710928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66928" y="4206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completo opera com supervisão humana obrigatória na etapa de aprovação — controle institucional sem abrir mão da velocidade da automação. Nenhuma mudança vai ao ar sem o aval do gestor.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Financeiro e Resultados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+15–25%</a:t>
            </a:r>
            <a:endParaRPr lang="en-US" sz="3400"/>
          </a:p>
        </p:txBody>
      </p:sp>
      <p:sp>
        <p:nvSpPr>
          <p:cNvPr id="7" name="Text 5"/>
          <p:cNvSpPr/>
          <p:nvPr/>
        </p:nvSpPr>
        <p:spPr>
          <a:xfrm>
            <a:off x="56692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potencial em ROAS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61688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400"/>
          </a:p>
        </p:txBody>
      </p:sp>
      <p:sp>
        <p:nvSpPr>
          <p:cNvPr id="10" name="Text 8"/>
          <p:cNvSpPr/>
          <p:nvPr/>
        </p:nvSpPr>
        <p:spPr>
          <a:xfrm>
            <a:off x="436168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de tempo do time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8156448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56448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/>
          </a:p>
        </p:txBody>
      </p:sp>
      <p:sp>
        <p:nvSpPr>
          <p:cNvPr id="13" name="Text 11"/>
          <p:cNvSpPr/>
          <p:nvPr/>
        </p:nvSpPr>
        <p:spPr>
          <a:xfrm>
            <a:off x="8156448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e auditoria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566928" y="36118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" y="37398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total contra desvios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95528" y="4087368"/>
            <a:ext cx="5074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algorítmica que impede erros operacionais e garante compliance com o orçamento aprovado.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382512" y="36118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11112" y="37398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direta maximizada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611112" y="4087368"/>
            <a:ext cx="5074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 ativa contra OTAs nas buscas de marca e realocação contínua para os canais de maior conversão.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ganhos de ROAS são potenciais e serão medidos nos 15 dias de Dry-Run antes de qualquer cobrança de sucesso.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Contratação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mercado B2B Enterprise AI, separando Adesão (implantação única) de Sustentação (operação contínua).</a:t>
            </a:r>
            <a:endParaRPr lang="en-US" sz="1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94560"/>
          <a:ext cx="11027664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4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estimada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Adesão &amp; Setup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única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R$ 18.000 – R$ 25.000  (≈ R$ 2.000 a 2.700/hotel)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Sustentação mensal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Retainer fixo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R$ 4.500 – R$ 7.500/mês  (≈ R$ 500 a 830/hotel/mês)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no primeiro ano (setup + 12 meses): aproximadamente R$ 72 mil a R$ 115 mil.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DE CUSTO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de Custo da Sustentação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consumo de IA não é o custo — a mensalidade remunera operação, manutenção e expertise contínua.</a:t>
            </a:r>
            <a:endParaRPr lang="en-US" sz="14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27664" cy="914400"/>
        </p:xfrm>
        <a:graphic>
          <a:graphicData uri="http://schemas.openxmlformats.org/drawingml/2006/table">
            <a:tbl>
              <a:tblPr/>
              <a:tblGrid>
                <a:gridCol w="737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mensal estimado</a:t>
                      </a:r>
                      <a:endParaRPr lang="en-US" sz="1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Inferência de IA — 9 hotéis, ciclo semanal + monitoramento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4C7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R$ 10 – R$ 20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Hospedagem — dashboard + API + banco em nuvem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R$ 150 – R$ 400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Manutenção de conectores + recalibragem + SLA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EEF1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 de engenharia (componente principal)</a:t>
                      </a:r>
                      <a:endParaRPr lang="en-US" sz="1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343400"/>
            <a:ext cx="11027664" cy="1280160"/>
          </a:xfrm>
          <a:prstGeom prst="roundRect">
            <a:avLst>
              <a:gd name="adj" fmla="val 4286"/>
            </a:avLst>
          </a:prstGeom>
          <a:solidFill>
            <a:srgbClr val="141B45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4805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chegamos nesse número:  </a:t>
            </a:r>
            <a:r>
              <a:rPr lang="en-US" sz="11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de ~540 mil tokens de entrada e ~240 mil de saída por mês (ingestão dos 9 hotéis + análises diárias), mix Haiku 4.5 / Sonnet 5 com Batch API. Preço de referência: Sonnet 5 a US$ 2 / US$ 10 e Haiku 4.5 a US$ 1 / US$ 5 por milhão de tokens; câmbio ~R$ 5,19. Mesmo com um erro de 10x, o custo de IA fica em R$ 100–200/mês.</a:t>
            </a:r>
            <a:endParaRPr lang="en-US" sz="1150"/>
          </a:p>
        </p:txBody>
      </p:sp>
      <p:sp>
        <p:nvSpPr>
          <p:cNvPr id="13" name="Text 9"/>
          <p:cNvSpPr/>
          <p:nvPr/>
        </p:nvSpPr>
        <p:spPr>
          <a:xfrm>
            <a:off x="566928" y="5760000"/>
            <a:ext cx="11027664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custo projetado para quando a camada de LLM estiver ativa em produção. A demonstração atual roda 100% no motor heurístico determinístico — nenhuma chamada real a LLM foi realizada até o momento.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e ROI — Modelagem Realista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Ancorada no investimento real de mídia da rede: ~R$ 265.000/mês (média dos reports semanais, não R$ 300 mil).</a:t>
            </a:r>
            <a:endParaRPr lang="en-US" sz="1350"/>
          </a:p>
        </p:txBody>
      </p:sp>
      <p:graphicFrame>
        <p:nvGraphicFramePr>
          <p:cNvPr id="6" name="Chart 0"/>
          <p:cNvGraphicFramePr/>
          <p:nvPr/>
        </p:nvGraphicFramePr>
        <p:xfrm>
          <a:off x="566928" y="2057400"/>
          <a:ext cx="58521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2057400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0" y="2057400"/>
            <a:ext cx="64008" cy="694944"/>
          </a:xfrm>
          <a:prstGeom prst="rect">
            <a:avLst/>
          </a:prstGeom>
          <a:solidFill>
            <a:srgbClr val="36C5D0"/>
          </a:solidFill>
          <a:ln w="12700">
            <a:solidFill>
              <a:srgbClr val="36C5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21305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usado: 3,05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6858000" y="2359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consolidado real do report de mídia — não os 9–12x das campanhas de topo. Blinda a conta contra contestação.</a:t>
            </a:r>
            <a:endParaRPr lang="en-US" sz="950"/>
          </a:p>
        </p:txBody>
      </p:sp>
      <p:sp>
        <p:nvSpPr>
          <p:cNvPr id="11" name="Shape 8"/>
          <p:cNvSpPr/>
          <p:nvPr/>
        </p:nvSpPr>
        <p:spPr>
          <a:xfrm>
            <a:off x="6675120" y="2843784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75120" y="2843784"/>
            <a:ext cx="64008" cy="694944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9169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Economia: R$ 13,25 mil/mês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6858000" y="31455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5% de desperdício sobre R$ 265 mil de verba real.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6675120" y="3630168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3630168"/>
            <a:ext cx="64008" cy="694944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7033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incremental: ~R$ 39,75 mil/mês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685800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realocação da verba economizada ao ROAS consolidado de 3,0.</a:t>
            </a:r>
            <a:endParaRPr lang="en-US" sz="950"/>
          </a:p>
        </p:txBody>
      </p:sp>
      <p:sp>
        <p:nvSpPr>
          <p:cNvPr id="19" name="Shape 16"/>
          <p:cNvSpPr/>
          <p:nvPr/>
        </p:nvSpPr>
        <p:spPr>
          <a:xfrm>
            <a:off x="6675120" y="4416552"/>
            <a:ext cx="4937760" cy="694944"/>
          </a:xfrm>
          <a:prstGeom prst="roundRect">
            <a:avLst>
              <a:gd name="adj" fmla="val 7895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4416552"/>
            <a:ext cx="64008" cy="694944"/>
          </a:xfrm>
          <a:prstGeom prst="rect">
            <a:avLst/>
          </a:prstGeom>
          <a:solidFill>
            <a:srgbClr val="F5C544"/>
          </a:solidFill>
          <a:ln w="12700">
            <a:solidFill>
              <a:srgbClr val="F5C5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C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Payback: ~13 dias</a:t>
            </a:r>
            <a:endParaRPr lang="en-US" sz="1200"/>
          </a:p>
        </p:txBody>
      </p:sp>
      <p:sp>
        <p:nvSpPr>
          <p:cNvPr id="22" name="Text 19"/>
          <p:cNvSpPr/>
          <p:nvPr/>
        </p:nvSpPr>
        <p:spPr>
          <a:xfrm>
            <a:off x="6858000" y="47183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Fix-Fee, com receita incremental; ~2,8 meses no cenário só-economia (ultraconservador). Memória de cálculo abaixo.</a:t>
            </a:r>
            <a:endParaRPr lang="en-US" sz="950"/>
          </a:p>
        </p:txBody>
      </p:sp>
      <p:sp>
        <p:nvSpPr>
          <p:cNvPr id="23" name="Shape 20"/>
          <p:cNvSpPr/>
          <p:nvPr/>
        </p:nvSpPr>
        <p:spPr>
          <a:xfrm>
            <a:off x="566928" y="5300000"/>
            <a:ext cx="11027664" cy="1350000"/>
          </a:xfrm>
          <a:prstGeom prst="roundRect">
            <a:avLst>
              <a:gd name="adj" fmla="val 3000"/>
            </a:avLst>
          </a:prstGeom>
          <a:solidFill>
            <a:srgbClr val="141B45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400000"/>
            <a:ext cx="1060704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de cálculo (modelo Fix-Fee: Setup R$ 20.000 + R$ 6.000/mês):  </a:t>
            </a:r>
            <a:r>
              <a:rPr lang="en-US" sz="10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bruto mensal = Economia (R$ 13.250) + Receita incremental (R$ 39.750) = R$ 53.000. Líquido após mensalidade (R$ 6.000) = R$ 47.000 → Payback = R$ 20.000 ÷ R$ 47.000 ≈ 0,4 mês (~13 dias). Cenário só-economia: R$ 13.250 − R$ 6.000 = R$ 7.250/mês → Payback = R$ 20.000 ÷ R$ 7.250 ≈ 2,8 meses.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Antecipando as Perguntas do Comitê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orçamento de R$ 300 mil está superestimado."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0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Corrigido para R$ 265 mil, a média real dos reports. O ROI não depende de inflar a base.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236208" y="1783080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9088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ROAS de 9–12x é otimista."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6419088" y="22402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0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usa o ROAS consolidado real de 3,05. Os 9–12x só aparecem em Search Brand específicas.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66928" y="2953512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044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+25% é promessa?"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749808" y="34107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0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potencial (+15% a +25%), medido nos 15 dias de Dry-Run antes de qualquer cobrança de sucesso.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236208" y="2953512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9088" y="3044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"Quanto é custo de IA?"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6419088" y="34107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0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Dezenas de reais/mês. A mensalidade paga operação e expertise, não tokens.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215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 se a receita for só sazonalidade?"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749808" y="458114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0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 o fix-fee é recomendado: remove a discussão de atribuição de mérito.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6236208" y="4123944"/>
            <a:ext cx="5349240" cy="1042416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9088" y="4215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55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"Por que confiar a verba a uma IA?"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6419088" y="458114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0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inegociáveis + aprovação humana obrigatória antes de qualquer execução.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CONTRATAÇÃO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Modelos de Contratação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41B45"/>
          </a:solidFill>
          <a:ln w="19050">
            <a:solidFill>
              <a:srgbClr val="34C77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5349240" cy="640080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83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Fix-Fee  (Recomendado)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fixo + mensalidade fixa.</a:t>
            </a:r>
            <a:endParaRPr lang="en-US" sz="1250"/>
          </a:p>
          <a:p>
            <a:pPr marL="0" indent="0">
              <a:spcAft>
                <a:spcPts val="400"/>
              </a:spcAft>
              <a:buNone/>
            </a:pPr>
            <a:r>
              <a:rPr lang="en-US" sz="12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100% previsível.</a:t>
            </a:r>
            <a:endParaRPr lang="en-US" sz="1250"/>
          </a:p>
          <a:p>
            <a:pPr marL="0" indent="0">
              <a:spcAft>
                <a:spcPts val="400"/>
              </a:spcAft>
              <a:buNone/>
            </a:pPr>
            <a:endParaRPr lang="en-US" sz="1250"/>
          </a:p>
          <a:p>
            <a:pPr marL="0" indent="0">
              <a:spcAft>
                <a:spcPts val="400"/>
              </a:spcAft>
              <a:buNone/>
            </a:pPr>
            <a:r>
              <a:rPr lang="en-US" sz="12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R$ 20.000 (setup) + R$ 6.000/mês.</a:t>
            </a:r>
            <a:endParaRPr lang="en-US" sz="1250"/>
          </a:p>
          <a:p>
            <a:pPr marL="0" indent="0">
              <a:spcAft>
                <a:spcPts val="400"/>
              </a:spcAft>
              <a:buNone/>
            </a:pPr>
            <a:endParaRPr lang="en-US" sz="1250"/>
          </a:p>
          <a:p>
            <a:pPr marL="0" indent="0">
              <a:spcAft>
                <a:spcPts val="400"/>
              </a:spcAft>
              <a:buNone/>
            </a:pPr>
            <a:r>
              <a:rPr lang="en-US" sz="12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governança e compliance — e evita a discussão de atribuição de receita.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6236208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41B45"/>
          </a:solidFill>
          <a:ln w="19050">
            <a:solidFill>
              <a:srgbClr val="F5C5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1783080"/>
            <a:ext cx="5349240" cy="640080"/>
          </a:xfrm>
          <a:prstGeom prst="rect">
            <a:avLst/>
          </a:prstGeom>
          <a:solidFill>
            <a:srgbClr val="F5C544"/>
          </a:solidFill>
          <a:ln w="12700">
            <a:solidFill>
              <a:srgbClr val="F5C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83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  (Success-Fee)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510528" y="260604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reduzido + base menor + % sobre receita incremental acima da meta.</a:t>
            </a:r>
            <a:endParaRPr lang="en-US" sz="1250"/>
          </a:p>
          <a:p>
            <a:pPr marL="0" indent="0">
              <a:spcAft>
                <a:spcPts val="400"/>
              </a:spcAft>
              <a:buNone/>
            </a:pPr>
            <a:endParaRPr lang="en-US" sz="1250"/>
          </a:p>
          <a:p>
            <a:pPr marL="0" indent="0">
              <a:spcAft>
                <a:spcPts val="400"/>
              </a:spcAft>
              <a:buNone/>
            </a:pPr>
            <a:r>
              <a:rPr lang="en-US" sz="12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R$ 12.000 (setup) + R$ 3.500/mês + 5% sobre receita incremental.</a:t>
            </a:r>
            <a:endParaRPr lang="en-US" sz="1250"/>
          </a:p>
          <a:p>
            <a:pPr marL="0" indent="0">
              <a:spcAft>
                <a:spcPts val="400"/>
              </a:spcAft>
              <a:buNone/>
            </a:pPr>
            <a:endParaRPr lang="en-US" sz="1250"/>
          </a:p>
          <a:p>
            <a:pPr marL="0" indent="0">
              <a:spcAft>
                <a:spcPts val="400"/>
              </a:spcAft>
              <a:buNone/>
            </a:pPr>
            <a:r>
              <a:rPr lang="en-US" sz="12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desembolso inicial, mas exige acordo sobre como isolar o mérito do agente.</a:t>
            </a:r>
            <a:endParaRPr lang="en-US" sz="1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em 4 Fases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6C4BF6"/>
          </a:solidFill>
          <a:ln w="12700">
            <a:solidFill>
              <a:srgbClr val="6C4B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C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Concluída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95528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analítico, guardrails, dashboard web e simulador Dry-Run operacionais.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382512" y="1783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9110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Próxima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611112" y="2258568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o PMS hoteleiro: ocupação futura em tempo real para ajustar mídia por quartos vagos.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66928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795528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canais com conectores nativos: TikTok Ads, Bing Ads e campanhas programáticas.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382512" y="3776472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41B45"/>
          </a:solidFill>
          <a:ln w="12700">
            <a:solidFill>
              <a:srgbClr val="2A336B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3904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611112" y="4251960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autônoma de sugestões de criativos com base em tendências de busca e histórico de performance.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66928" y="5560000"/>
            <a:ext cx="11027664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“Concluída” refere-se ao motor heurístico, guardrails, dashboard e simulador Dry-Run. A demonstração atual roda 100% no motor heurístico determinístico — nenhuma chamada real a LLM foi realizada até o momento.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6C4BF6">
              <a:alpha val="25000"/>
            </a:srgbClr>
          </a:solidFill>
          <a:ln w="12700">
            <a:solidFill>
              <a:srgbClr val="6C4B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E7CF6">
              <a:alpha val="22000"/>
            </a:srgbClr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futuro da hotelaria com IA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9B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Wish • Gestão Autônoma de Performance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E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que não substitui o gestor — libera-o para pensar em estratégia enquanto a IA cuida da execução com precisão e governança.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6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de ponta   ·   Guardrails inegociáveis   ·   9 hotéis com estratégia personalizada   ·   Mais receita direta, menos OTA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1746</Words>
  <Application>Microsoft Macintosh PowerPoint</Application>
  <PresentationFormat>Widescreen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Gerente de Mídia de Performance — Grupo Wish</dc:title>
  <dc:subject>PptxGenJS Presentation</dc:subject>
  <dc:creator>PptxGenJS</dc:creator>
  <cp:lastModifiedBy>Geraldo Prezoto</cp:lastModifiedBy>
  <cp:revision>1</cp:revision>
  <dcterms:created xsi:type="dcterms:W3CDTF">2026-08-20T23:57:15Z</dcterms:created>
  <dcterms:modified xsi:type="dcterms:W3CDTF">2026-09-16T00:24:18Z</dcterms:modified>
</cp:coreProperties>
</file>